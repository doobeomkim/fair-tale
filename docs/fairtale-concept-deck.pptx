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658368"/>
            <a:ext cx="3657600" cy="384048"/>
          </a:xfrm>
          <a:prstGeom prst="roundRect">
            <a:avLst/>
          </a:prstGeom>
          <a:solidFill>
            <a:srgbClr val="E6F8F4"/>
          </a:solidFill>
          <a:ln w="12700">
            <a:solidFill>
              <a:srgbClr val="E6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Cross-border B2B Expansion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804672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4400" b="1" dirty="0" err="1">
                <a:solidFill>
                  <a:srgbClr val="153156"/>
                </a:solidFill>
                <a:latin typeface="Pretendard"/>
                <a:ea typeface="Pretendard"/>
                <a:cs typeface="Pretendard"/>
              </a:rPr>
              <a:t>Fairtale</a:t>
            </a:r>
            <a:endParaRPr sz="4400" b="1" dirty="0">
              <a:solidFill>
                <a:srgbClr val="15315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8096" y="2084831"/>
            <a:ext cx="8046720" cy="10515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해외진출이</a:t>
            </a:r>
            <a:r>
              <a:rPr sz="24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막막한</a:t>
            </a:r>
            <a:r>
              <a:rPr sz="24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기업이</a:t>
            </a:r>
            <a:r>
              <a:rPr sz="24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
</a:t>
            </a:r>
            <a:r>
              <a:rPr sz="24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바이어를</a:t>
            </a:r>
            <a:r>
              <a:rPr sz="24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만나고</a:t>
            </a:r>
            <a:r>
              <a:rPr sz="24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실제</a:t>
            </a:r>
            <a:r>
              <a:rPr sz="24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기회로</a:t>
            </a:r>
            <a:r>
              <a:rPr sz="24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나아가도록</a:t>
            </a:r>
            <a:r>
              <a:rPr sz="24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돕는</a:t>
            </a:r>
            <a:r>
              <a:rPr sz="24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플랫폼</a:t>
            </a:r>
            <a:endParaRPr sz="2400" b="1" dirty="0">
              <a:solidFill>
                <a:srgbClr val="161F2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6384" y="3401568"/>
            <a:ext cx="694944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AI 통역은 기능입니다. Fairtale의 본질은 해외진출 성공 경험입니다.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91440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75320" y="1353312"/>
            <a:ext cx="27432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North 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11312" y="2084831"/>
            <a:ext cx="2852928" cy="1737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700" b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“Fairtale 덕분에
해외 바이어를 만났고,
실제 비즈니스 기회가
생겼다.”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365760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Fairtale Concept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80467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FAIRTALE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0392"/>
            <a:ext cx="8961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해외진출은 좋은 제품만으로 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97840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많은 중소기업은 제품은 있지만 시작점, 언어, 네트워크, 실무 절차에서 막힌다.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993392"/>
            <a:ext cx="10835640" cy="13716"/>
          </a:xfrm>
          <a:prstGeom prst="rect">
            <a:avLst/>
          </a:prstGeom>
          <a:solidFill>
            <a:srgbClr val="DF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2423160"/>
            <a:ext cx="26060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624328"/>
            <a:ext cx="21488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1">
                <a:solidFill>
                  <a:srgbClr val="2C68C4"/>
                </a:solidFill>
                <a:latin typeface="Pretendard"/>
                <a:ea typeface="Pretendard"/>
                <a:cs typeface="Pretendard"/>
              </a:rPr>
              <a:t>시작점 부재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044952"/>
            <a:ext cx="2148840" cy="141731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어떤 시장에, 누구에게, 어떤 순서로 접근해야 할지 모른다.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423160"/>
            <a:ext cx="26060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94760" y="2624328"/>
            <a:ext cx="21488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언어 장벽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044952"/>
            <a:ext cx="2148840" cy="141731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상담과 후속 커뮤니케이션에서 자신감이 떨어지고 속도가 느려진다.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9088" y="2423160"/>
            <a:ext cx="26060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47688" y="2624328"/>
            <a:ext cx="21488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1">
                <a:solidFill>
                  <a:srgbClr val="D6A346"/>
                </a:solidFill>
                <a:latin typeface="Pretendard"/>
                <a:ea typeface="Pretendard"/>
                <a:cs typeface="Pretendard"/>
              </a:rPr>
              <a:t>신뢰 네트워크 부족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3044952"/>
            <a:ext cx="2148840" cy="141731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검증된 바이어, 수입사, 실무 파트너를 만나기 어렵다.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72016" y="2423160"/>
            <a:ext cx="2240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0616" y="2624328"/>
            <a:ext cx="17830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1">
                <a:solidFill>
                  <a:srgbClr val="CA5050"/>
                </a:solidFill>
                <a:latin typeface="Pretendard"/>
                <a:ea typeface="Pretendard"/>
                <a:cs typeface="Pretendard"/>
              </a:rPr>
              <a:t>실무 리스크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616" y="3044952"/>
            <a:ext cx="1783080" cy="141731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계약, 인증, 통관, 물류, 현지화에서 다시 멈춘다.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365760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Fairtale Concept Deck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80467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FAIRTALE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0392"/>
            <a:ext cx="8961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Fairtale은 AI 통역기가 아니다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97840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Fairtale은 해외진출을 실제 상담과 계약 기회까지 연결하는 실행 플랫폼이다.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993392"/>
            <a:ext cx="10835640" cy="13716"/>
          </a:xfrm>
          <a:prstGeom prst="rect">
            <a:avLst/>
          </a:prstGeom>
          <a:solidFill>
            <a:srgbClr val="DF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4892040" cy="2560320"/>
          </a:xfrm>
          <a:prstGeom prst="roundRect">
            <a:avLst/>
          </a:prstGeom>
          <a:solidFill>
            <a:srgbClr val="FFF6E0"/>
          </a:solidFill>
          <a:ln w="12700">
            <a:solidFill>
              <a:srgbClr val="FFF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697480"/>
            <a:ext cx="41605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900" b="1">
                <a:solidFill>
                  <a:srgbClr val="D6A346"/>
                </a:solidFill>
                <a:latin typeface="Pretendard"/>
                <a:ea typeface="Pretendard"/>
                <a:cs typeface="Pretendard"/>
              </a:rPr>
              <a:t>기술 중심 관점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73552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36"/>
              </a:spcAft>
            </a:pPr>
            <a:r>
              <a:rPr sz="16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실시간 음성통역</a:t>
            </a:r>
          </a:p>
          <a:p>
            <a:pPr>
              <a:spcAft>
                <a:spcPts val="936"/>
              </a:spcAft>
            </a:pPr>
            <a:r>
              <a:rPr sz="16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화상회의</a:t>
            </a:r>
          </a:p>
          <a:p>
            <a:pPr>
              <a:spcAft>
                <a:spcPts val="936"/>
              </a:spcAft>
            </a:pPr>
            <a:r>
              <a:rPr sz="16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자막 번역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3246120"/>
            <a:ext cx="6400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0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2148840"/>
            <a:ext cx="4434840" cy="2880360"/>
          </a:xfrm>
          <a:prstGeom prst="roundRect">
            <a:avLst/>
          </a:prstGeom>
          <a:solidFill>
            <a:srgbClr val="E6F8F4"/>
          </a:solidFill>
          <a:ln w="12700">
            <a:solidFill>
              <a:srgbClr val="E6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50608" y="2606040"/>
            <a:ext cx="3749039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Fairtale 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3218688"/>
            <a:ext cx="374903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36"/>
              </a:spcAft>
            </a:pPr>
            <a:r>
              <a:rPr sz="16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해외진출 절차 안내</a:t>
            </a:r>
          </a:p>
          <a:p>
            <a:pPr>
              <a:spcAft>
                <a:spcPts val="936"/>
              </a:spcAft>
            </a:pPr>
            <a:r>
              <a:rPr sz="16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적합한 바이어 연결</a:t>
            </a:r>
          </a:p>
          <a:p>
            <a:pPr>
              <a:spcAft>
                <a:spcPts val="936"/>
              </a:spcAft>
            </a:pPr>
            <a:r>
              <a:rPr sz="16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상담 이후 실무 파트너 연결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365760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Fairtale Concept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80467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FAIRTALE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0392"/>
            <a:ext cx="8961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사용자 여정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97840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기업은 복잡한 해외진출 절차를 Fairtale이 안내하는 흐름대로 따라간다.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993392"/>
            <a:ext cx="10835640" cy="13716"/>
          </a:xfrm>
          <a:prstGeom prst="rect">
            <a:avLst/>
          </a:prstGeom>
          <a:solidFill>
            <a:srgbClr val="DF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2057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2633472"/>
            <a:ext cx="502920" cy="384048"/>
          </a:xfrm>
          <a:prstGeom prst="roundRect">
            <a:avLst/>
          </a:prstGeom>
          <a:solidFill>
            <a:srgbClr val="E6F8F4"/>
          </a:solidFill>
          <a:ln w="12700">
            <a:solidFill>
              <a:srgbClr val="E6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0040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등록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03320"/>
            <a:ext cx="155448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회사/제품/인증/목표 시장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2331720"/>
            <a:ext cx="2057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27832" y="2633472"/>
            <a:ext cx="502920" cy="384048"/>
          </a:xfrm>
          <a:prstGeom prst="roundRect">
            <a:avLst/>
          </a:prstGeom>
          <a:solidFill>
            <a:srgbClr val="E6F8F4"/>
          </a:solidFill>
          <a:ln w="12700">
            <a:solidFill>
              <a:srgbClr val="E6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320040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매칭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3703320"/>
            <a:ext cx="155448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적합한 바이어와 파트너 후보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66944" y="2331720"/>
            <a:ext cx="2057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95544" y="2633472"/>
            <a:ext cx="502920" cy="384048"/>
          </a:xfrm>
          <a:prstGeom prst="roundRect">
            <a:avLst/>
          </a:prstGeom>
          <a:solidFill>
            <a:srgbClr val="E6F8F4"/>
          </a:solidFill>
          <a:ln w="12700">
            <a:solidFill>
              <a:srgbClr val="E6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95544" y="320040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상담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5544" y="3703320"/>
            <a:ext cx="155448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화상 미팅과 실시간 번역 자막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34656" y="2331720"/>
            <a:ext cx="2057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763256" y="2633472"/>
            <a:ext cx="502920" cy="384048"/>
          </a:xfrm>
          <a:prstGeom prst="roundRect">
            <a:avLst/>
          </a:prstGeom>
          <a:solidFill>
            <a:srgbClr val="E6F8F4"/>
          </a:solidFill>
          <a:ln w="12700">
            <a:solidFill>
              <a:srgbClr val="E6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3256" y="320040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63256" y="3703320"/>
            <a:ext cx="155448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상담 요약과 다음 액션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02368" y="2331720"/>
            <a:ext cx="2057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030968" y="2633472"/>
            <a:ext cx="502920" cy="384048"/>
          </a:xfrm>
          <a:prstGeom prst="roundRect">
            <a:avLst/>
          </a:prstGeom>
          <a:solidFill>
            <a:srgbClr val="E6F8F4"/>
          </a:solidFill>
          <a:ln w="12700">
            <a:solidFill>
              <a:srgbClr val="E6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0968" y="320040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실행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8" y="3703320"/>
            <a:ext cx="155448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계약/인증/물류/마케팅 연결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73952"/>
            <a:ext cx="365760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Fairtale Concept Deck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80467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FAIRTALE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0392"/>
            <a:ext cx="8961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포지셔닝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97840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통역 기능이 있는 B2B 매칭 플랫폼이 아니라, 해외진출 성공 경험을 만드는 플랫폼.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993392"/>
            <a:ext cx="10835640" cy="13716"/>
          </a:xfrm>
          <a:prstGeom prst="rect">
            <a:avLst/>
          </a:prstGeom>
          <a:solidFill>
            <a:srgbClr val="DF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10332720" cy="1234440"/>
          </a:xfrm>
          <a:prstGeom prst="roundRect">
            <a:avLst/>
          </a:prstGeom>
          <a:solidFill>
            <a:srgbClr val="E6F8F4"/>
          </a:solidFill>
          <a:ln w="12700">
            <a:solidFill>
              <a:srgbClr val="E6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61872" y="2377440"/>
            <a:ext cx="964692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900" b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아시아 기업이 해외 바이어를 만나고, 언어 장벽 없이 상담하며,
실제 수출 기회로 이어지도록 돕는다.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94760"/>
            <a:ext cx="30632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3995928"/>
            <a:ext cx="26060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1">
                <a:solidFill>
                  <a:srgbClr val="2C68C4"/>
                </a:solidFill>
                <a:latin typeface="Pretendard"/>
                <a:ea typeface="Pretendard"/>
                <a:cs typeface="Pretendard"/>
              </a:rPr>
              <a:t>공급 기업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16552"/>
            <a:ext cx="260604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해외진출 절차를 쉽게 따라가고 바이어 상담 기회를 얻는다.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3794760"/>
            <a:ext cx="30632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82312" y="3995928"/>
            <a:ext cx="26060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해외 바이어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4416552"/>
            <a:ext cx="260604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검토할 가치가 있는 아시아 공급사를 더 쉽게 발견한다.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794760"/>
            <a:ext cx="30632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3995928"/>
            <a:ext cx="26060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1">
                <a:solidFill>
                  <a:srgbClr val="D6A346"/>
                </a:solidFill>
                <a:latin typeface="Pretendard"/>
                <a:ea typeface="Pretendard"/>
                <a:cs typeface="Pretendard"/>
              </a:rPr>
              <a:t>파트너/투자자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416552"/>
            <a:ext cx="260604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매칭, 온보딩, 언어 지원을 결합해 거래 마찰을 줄인다.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365760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Fairtale Concept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80467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FAIRTALE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0392"/>
            <a:ext cx="8961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복제하기 어려운 자산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97840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기능은 따라 만들 수 있지만, 신뢰 네트워크와 거래 히스토리는 시간이 쌓여야 만들어진다.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993392"/>
            <a:ext cx="10835640" cy="13716"/>
          </a:xfrm>
          <a:prstGeom prst="rect">
            <a:avLst/>
          </a:prstGeom>
          <a:solidFill>
            <a:srgbClr val="DF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33375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441448"/>
            <a:ext cx="28803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1">
                <a:solidFill>
                  <a:srgbClr val="2C68C4"/>
                </a:solidFill>
                <a:latin typeface="Pretendard"/>
                <a:ea typeface="Pretendard"/>
                <a:cs typeface="Pretendard"/>
              </a:rPr>
              <a:t>바이어 네트워크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62072"/>
            <a:ext cx="2880360" cy="132587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실제 구매 의향이 있는 해외 바이어, 수입사, 유통 파트너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40280"/>
            <a:ext cx="33375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441448"/>
            <a:ext cx="28803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실무 파트너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62072"/>
            <a:ext cx="2880360" cy="132587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법무, 인증, 통관, 물류, 현지화, 마케팅 파트너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240280"/>
            <a:ext cx="33375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2441448"/>
            <a:ext cx="28803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1">
                <a:solidFill>
                  <a:srgbClr val="D6A346"/>
                </a:solidFill>
                <a:latin typeface="Pretendard"/>
                <a:ea typeface="Pretendard"/>
                <a:cs typeface="Pretendard"/>
              </a:rPr>
              <a:t>거래 데이터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862072"/>
            <a:ext cx="2880360" cy="132587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어떤 제품이 어떤 시장에서 반응했는지에 대한 상담/거래 히스토리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4892040"/>
            <a:ext cx="9692640" cy="6858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08760" y="5010912"/>
            <a:ext cx="9144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500" b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Fairtale의 장기 방어력은 코드가 아니라,
검증된 네트워크와 반복 가능한 해외진출 프로세스에서 나온다.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365760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Fairtale Concept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80467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FAIRTALE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0392"/>
            <a:ext cx="8961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초기 파트너 패키지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97840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처음부터 큰 마켓플레이스보다, 해외진출 과정에서 자주 막히는 문제를 선별해서 해결한다.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993392"/>
            <a:ext cx="10835640" cy="13716"/>
          </a:xfrm>
          <a:prstGeom prst="rect">
            <a:avLst/>
          </a:prstGeom>
          <a:solidFill>
            <a:srgbClr val="DF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7552" y="2112263"/>
            <a:ext cx="1143000" cy="384048"/>
          </a:xfrm>
          <a:prstGeom prst="roundRect">
            <a:avLst/>
          </a:prstGeom>
          <a:solidFill>
            <a:srgbClr val="E6F8F4"/>
          </a:solidFill>
          <a:ln w="12700">
            <a:solidFill>
              <a:srgbClr val="E6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계약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7" y="2144268"/>
            <a:ext cx="7955279" cy="34747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수출</a:t>
            </a:r>
            <a:r>
              <a:rPr sz="18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계약서</a:t>
            </a:r>
            <a:r>
              <a:rPr sz="18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1차 </a:t>
            </a:r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검토</a:t>
            </a:r>
            <a:endParaRPr sz="1800" b="1" dirty="0">
              <a:solidFill>
                <a:srgbClr val="161F2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60120" y="2615184"/>
            <a:ext cx="10012680" cy="13716"/>
          </a:xfrm>
          <a:prstGeom prst="rect">
            <a:avLst/>
          </a:prstGeom>
          <a:solidFill>
            <a:srgbClr val="DF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7552" y="2825495"/>
            <a:ext cx="1143000" cy="384048"/>
          </a:xfrm>
          <a:prstGeom prst="roundRect">
            <a:avLst/>
          </a:prstGeom>
          <a:solidFill>
            <a:srgbClr val="E6F8F4"/>
          </a:solidFill>
          <a:ln w="12700">
            <a:solidFill>
              <a:srgbClr val="E6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현지화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6" y="2859786"/>
            <a:ext cx="7955279" cy="34747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제품</a:t>
            </a:r>
            <a:r>
              <a:rPr sz="18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영문</a:t>
            </a:r>
            <a:r>
              <a:rPr sz="18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소개서</a:t>
            </a:r>
            <a:r>
              <a:rPr sz="18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및</a:t>
            </a:r>
            <a:r>
              <a:rPr sz="18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카탈로그</a:t>
            </a:r>
            <a:r>
              <a:rPr sz="18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현지화</a:t>
            </a:r>
            <a:endParaRPr sz="1800" b="1" dirty="0">
              <a:solidFill>
                <a:srgbClr val="161F2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60120" y="3328415"/>
            <a:ext cx="10012680" cy="13716"/>
          </a:xfrm>
          <a:prstGeom prst="rect">
            <a:avLst/>
          </a:prstGeom>
          <a:solidFill>
            <a:srgbClr val="DF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7552" y="3538727"/>
            <a:ext cx="1143000" cy="384048"/>
          </a:xfrm>
          <a:prstGeom prst="roundRect">
            <a:avLst/>
          </a:prstGeom>
          <a:solidFill>
            <a:srgbClr val="E6F8F4"/>
          </a:solidFill>
          <a:ln w="12700">
            <a:solidFill>
              <a:srgbClr val="E6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인증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6" y="3573018"/>
            <a:ext cx="7955279" cy="34747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유럽</a:t>
            </a:r>
            <a:r>
              <a:rPr sz="18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해외</a:t>
            </a:r>
            <a:r>
              <a:rPr sz="18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인증</a:t>
            </a:r>
            <a:r>
              <a:rPr sz="18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필요</a:t>
            </a:r>
            <a:r>
              <a:rPr sz="18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여부</a:t>
            </a:r>
            <a:r>
              <a:rPr sz="18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체크</a:t>
            </a:r>
            <a:endParaRPr sz="1800" b="1" dirty="0">
              <a:solidFill>
                <a:srgbClr val="161F2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60120" y="4041648"/>
            <a:ext cx="10012680" cy="13716"/>
          </a:xfrm>
          <a:prstGeom prst="rect">
            <a:avLst/>
          </a:prstGeom>
          <a:solidFill>
            <a:srgbClr val="DF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87552" y="4251960"/>
            <a:ext cx="1143000" cy="384048"/>
          </a:xfrm>
          <a:prstGeom prst="roundRect">
            <a:avLst/>
          </a:prstGeom>
          <a:solidFill>
            <a:srgbClr val="E6F8F4"/>
          </a:solidFill>
          <a:ln w="12700">
            <a:solidFill>
              <a:srgbClr val="E6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물류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5" y="4286250"/>
            <a:ext cx="7955279" cy="34747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샘플</a:t>
            </a:r>
            <a:r>
              <a:rPr sz="18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배송</a:t>
            </a:r>
            <a:r>
              <a:rPr sz="18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및</a:t>
            </a:r>
            <a:r>
              <a:rPr sz="18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물류</a:t>
            </a:r>
            <a:r>
              <a:rPr sz="18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상담</a:t>
            </a:r>
            <a:endParaRPr sz="1800" b="1" dirty="0">
              <a:solidFill>
                <a:srgbClr val="161F2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60120" y="4754880"/>
            <a:ext cx="10012680" cy="13716"/>
          </a:xfrm>
          <a:prstGeom prst="rect">
            <a:avLst/>
          </a:prstGeom>
          <a:solidFill>
            <a:srgbClr val="DF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87552" y="4965192"/>
            <a:ext cx="1143000" cy="384048"/>
          </a:xfrm>
          <a:prstGeom prst="roundRect">
            <a:avLst/>
          </a:prstGeom>
          <a:solidFill>
            <a:srgbClr val="E6F8F4"/>
          </a:solidFill>
          <a:ln w="12700">
            <a:solidFill>
              <a:srgbClr val="E6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4" y="5001768"/>
            <a:ext cx="7955279" cy="34747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현지</a:t>
            </a:r>
            <a:r>
              <a:rPr sz="18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바이어</a:t>
            </a:r>
            <a:r>
              <a:rPr sz="18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또는</a:t>
            </a:r>
            <a:r>
              <a:rPr sz="18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수입사</a:t>
            </a:r>
            <a:r>
              <a:rPr sz="18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신뢰도</a:t>
            </a:r>
            <a:r>
              <a:rPr sz="1800" b="1" dirty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검토</a:t>
            </a:r>
            <a:endParaRPr sz="1800" b="1" dirty="0">
              <a:solidFill>
                <a:srgbClr val="161F2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60120" y="5468112"/>
            <a:ext cx="10012680" cy="13716"/>
          </a:xfrm>
          <a:prstGeom prst="rect">
            <a:avLst/>
          </a:prstGeom>
          <a:solidFill>
            <a:srgbClr val="DF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5742432"/>
            <a:ext cx="97840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운영 원칙: 적은 수의 검증된 파트너로 시작하고, 품질 관리와 책임 범위를 명확히 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73952"/>
            <a:ext cx="365760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Fairtale Concept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80467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FAIRTALE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0392"/>
            <a:ext cx="8961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MVP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97840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초기 MVP는 번역 기술보다 해외진출 여정이 작동한다는 것을 보여줘야 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993392"/>
            <a:ext cx="10835640" cy="13716"/>
          </a:xfrm>
          <a:prstGeom prst="rect">
            <a:avLst/>
          </a:prstGeom>
          <a:solidFill>
            <a:srgbClr val="DF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32004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395728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1">
                <a:solidFill>
                  <a:srgbClr val="2C68C4"/>
                </a:solidFill>
                <a:latin typeface="Pretendard"/>
                <a:ea typeface="Pretendard"/>
                <a:cs typeface="Pretendard"/>
              </a:rPr>
              <a:t>1. 기업/제품 등록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16352"/>
            <a:ext cx="2743200" cy="109727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회사 정보, 제품, 인증, 희망 시장을 입력한다.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94560"/>
            <a:ext cx="32004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395728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2. 매칭/상담 요청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16352"/>
            <a:ext cx="2743200" cy="109727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카테고리나 시장 기반으로 바이어 상담 기회를 만든다.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94560"/>
            <a:ext cx="32004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2395728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1">
                <a:solidFill>
                  <a:srgbClr val="D6A346"/>
                </a:solidFill>
                <a:latin typeface="Pretendard"/>
                <a:ea typeface="Pretendard"/>
                <a:cs typeface="Pretendard"/>
              </a:rPr>
              <a:t>3. 미팅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816352"/>
            <a:ext cx="2743200" cy="109727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화상 미팅과 실시간 번역 자막으로 언어 장벽을 낮춘다.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4617720"/>
            <a:ext cx="8001000" cy="84124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23160" y="4873752"/>
            <a:ext cx="73609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600" b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TTS 음성통역은 안정성이 충분할 때 고도화 기능으로 확장한다.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365760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Fairtale Concept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80467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FAIRTALE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0392"/>
            <a:ext cx="8961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Fairtale이 되어서는 안 되는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97840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기능의 나열이 아니라, 해외진출 성공 경험을 만드는 서비스로 기억되어야 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993392"/>
            <a:ext cx="10835640" cy="13716"/>
          </a:xfrm>
          <a:prstGeom prst="rect">
            <a:avLst/>
          </a:prstGeom>
          <a:solidFill>
            <a:srgbClr val="DF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4663440" cy="3291840"/>
          </a:xfrm>
          <a:prstGeom prst="roundRect">
            <a:avLst/>
          </a:prstGeom>
          <a:solidFill>
            <a:srgbClr val="FFF6E0"/>
          </a:solidFill>
          <a:ln w="12700">
            <a:solidFill>
              <a:srgbClr val="FFF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395728"/>
            <a:ext cx="3977639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CA5050"/>
                </a:solidFill>
                <a:latin typeface="Pretendard"/>
                <a:ea typeface="Pretendard"/>
                <a:cs typeface="Pretendard"/>
              </a:rPr>
              <a:t>아닌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971800"/>
            <a:ext cx="39776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36"/>
              </a:spcAft>
            </a:pPr>
            <a:r>
              <a:rPr sz="16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단순 화상회의 서비스</a:t>
            </a:r>
          </a:p>
          <a:p>
            <a:pPr>
              <a:spcAft>
                <a:spcPts val="936"/>
              </a:spcAft>
            </a:pPr>
            <a:r>
              <a:rPr sz="16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단순 AI 번역기</a:t>
            </a:r>
          </a:p>
          <a:p>
            <a:pPr>
              <a:spcAft>
                <a:spcPts val="936"/>
              </a:spcAft>
            </a:pPr>
            <a:r>
              <a:rPr sz="16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일반 온라인 전시 플랫폼</a:t>
            </a:r>
          </a:p>
          <a:p>
            <a:pPr>
              <a:spcAft>
                <a:spcPts val="936"/>
              </a:spcAft>
            </a:pPr>
            <a:r>
              <a:rPr sz="16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기업 목록 디렉토리</a:t>
            </a:r>
          </a:p>
          <a:p>
            <a:pPr>
              <a:spcAft>
                <a:spcPts val="936"/>
              </a:spcAft>
            </a:pPr>
            <a:r>
              <a:rPr sz="16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실시간 통역 기술 데모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2057400"/>
            <a:ext cx="4663440" cy="3291840"/>
          </a:xfrm>
          <a:prstGeom prst="roundRect">
            <a:avLst/>
          </a:prstGeom>
          <a:solidFill>
            <a:srgbClr val="E6F8F4"/>
          </a:solidFill>
          <a:ln w="12700">
            <a:solidFill>
              <a:srgbClr val="E6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2395728"/>
            <a:ext cx="3977639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되어야 하는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971800"/>
            <a:ext cx="39776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36"/>
              </a:spcAft>
            </a:pPr>
            <a:r>
              <a:rPr sz="16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해외진출 안내자</a:t>
            </a:r>
          </a:p>
          <a:p>
            <a:pPr>
              <a:spcAft>
                <a:spcPts val="936"/>
              </a:spcAft>
            </a:pPr>
            <a:r>
              <a:rPr sz="16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바이어 만남을 만드는 플랫폼</a:t>
            </a:r>
          </a:p>
          <a:p>
            <a:pPr>
              <a:spcAft>
                <a:spcPts val="936"/>
              </a:spcAft>
            </a:pPr>
            <a:r>
              <a:rPr sz="16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상담 이후 실행까지 잇는 네트워크</a:t>
            </a:r>
          </a:p>
          <a:p>
            <a:pPr>
              <a:spcAft>
                <a:spcPts val="936"/>
              </a:spcAft>
            </a:pPr>
            <a:r>
              <a:rPr sz="16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신뢰할 수 있는 파트너 연결</a:t>
            </a:r>
          </a:p>
          <a:p>
            <a:pPr>
              <a:spcAft>
                <a:spcPts val="936"/>
              </a:spcAft>
            </a:pPr>
            <a:r>
              <a:rPr sz="1600" b="0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실제 비즈니스 기회 창출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73952"/>
            <a:ext cx="365760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Fairtale Concept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>
                <a:solidFill>
                  <a:srgbClr val="576274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1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7772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12978B"/>
                </a:solidFill>
                <a:latin typeface="Pretendard"/>
                <a:ea typeface="Pretendard"/>
                <a:cs typeface="Pretendard"/>
              </a:rPr>
              <a:t>FAIRTALE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91640"/>
            <a:ext cx="987552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해외진출이 막막했던 기업에게
첫 바이어와의 만남을 만들어준다.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794760"/>
            <a:ext cx="101041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4087368"/>
            <a:ext cx="932688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161F2D"/>
                </a:solidFill>
                <a:latin typeface="Pretendard"/>
                <a:ea typeface="Pretendard"/>
                <a:cs typeface="Pretendard"/>
              </a:rPr>
              <a:t>“정말 감사합니다. 우리 회사에 정말 도움이 되었어요, Fairtale.”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016752"/>
            <a:ext cx="7772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Concept deck based on docs/concept.md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609</Words>
  <Application>Microsoft Macintosh PowerPoint</Application>
  <PresentationFormat>와이드스크린</PresentationFormat>
  <Paragraphs>128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2026-04-27T13:56:31Z</dcterms:modified>
  <cp:category/>
</cp:coreProperties>
</file>